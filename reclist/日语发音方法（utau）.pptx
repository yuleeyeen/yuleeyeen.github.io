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  <p:sldId id="257" r:id="rId5"/>
    <p:sldId id="259" r:id="rId6"/>
    <p:sldId id="25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8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8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8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8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67.xml"/><Relationship Id="rId2" Type="http://schemas.openxmlformats.org/officeDocument/2006/relationships/image" Target="../media/image1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日语发音方法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UTAU</a:t>
            </a:r>
            <a:r>
              <a:rPr lang="zh-CN" altLang="en-US"/>
              <a:t>歌手录制：日语发音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内容占位符 2" descr="1772252536994"/>
          <p:cNvPicPr>
            <a:picLocks noChangeAspect="1"/>
          </p:cNvPicPr>
          <p:nvPr>
            <p:ph sz="quarter" idx="13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-6985"/>
            <a:ext cx="5125720" cy="68643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188075" y="2767965"/>
            <a:ext cx="425577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IPA</a:t>
            </a:r>
            <a:r>
              <a:rPr lang="zh-CN" altLang="en-US" sz="4000"/>
              <a:t>音标表</a:t>
            </a:r>
            <a:endParaRPr lang="zh-CN" altLang="en-US" sz="4000"/>
          </a:p>
          <a:p>
            <a:r>
              <a:rPr lang="en-US" altLang="zh-CN" sz="4000"/>
              <a:t>2020</a:t>
            </a:r>
            <a:r>
              <a:rPr lang="zh-CN" altLang="en-US" sz="4000"/>
              <a:t>中文版</a:t>
            </a:r>
            <a:endParaRPr lang="zh-CN" altLang="en-US" sz="400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654300" y="564515"/>
            <a:ext cx="6883400" cy="740410"/>
          </a:xfrm>
        </p:spPr>
        <p:txBody>
          <a:bodyPr>
            <a:normAutofit fontScale="90000"/>
          </a:bodyPr>
          <a:p>
            <a:r>
              <a:rPr lang="zh-CN" altLang="en-US"/>
              <a:t>中文与日文辅音的清浊送气的差别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43255" y="1270635"/>
            <a:ext cx="5342255" cy="762635"/>
          </a:xfrm>
        </p:spPr>
        <p:txBody>
          <a:bodyPr>
            <a:normAutofit/>
          </a:bodyPr>
          <a:p>
            <a:r>
              <a:rPr lang="zh-CN" altLang="en-US"/>
              <a:t>中文</a:t>
            </a:r>
            <a:r>
              <a:rPr lang="en-US" altLang="zh-CN"/>
              <a:t>3</a:t>
            </a:r>
            <a:r>
              <a:rPr lang="zh-CN" altLang="en-US"/>
              <a:t>组爆破音（</a:t>
            </a:r>
            <a:r>
              <a:rPr lang="en-US" altLang="zh-CN"/>
              <a:t>b,p_d,t_g,k</a:t>
            </a:r>
            <a:r>
              <a:rPr lang="zh-CN" altLang="en-US"/>
              <a:t>），</a:t>
            </a:r>
            <a:r>
              <a:rPr lang="en-US" altLang="zh-CN"/>
              <a:t>3</a:t>
            </a:r>
            <a:r>
              <a:rPr lang="zh-CN" altLang="en-US"/>
              <a:t>组塞擦音</a:t>
            </a:r>
            <a:r>
              <a:rPr lang="en-US" altLang="zh-CN"/>
              <a:t>(j,q_zh,ch_z,c)</a:t>
            </a:r>
            <a:r>
              <a:rPr lang="zh-CN" altLang="en-US"/>
              <a:t>都是清辅音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9035" y="2033070"/>
            <a:ext cx="5342400" cy="4395600"/>
          </a:xfrm>
        </p:spPr>
        <p:txBody>
          <a:bodyPr/>
          <a:p>
            <a:r>
              <a:rPr lang="zh-CN" altLang="en-US"/>
              <a:t>中文的清浊对立，其实是送气强弱对立</a:t>
            </a:r>
            <a:endParaRPr lang="zh-CN" altLang="en-US"/>
          </a:p>
          <a:p>
            <a:r>
              <a:rPr lang="en-US" altLang="zh-CN"/>
              <a:t>b,d,g,j,zh,z</a:t>
            </a:r>
            <a:r>
              <a:rPr lang="zh-CN" altLang="en-US"/>
              <a:t>为弱送气音或不送气音，在除阻同时或稍后发浊音，实际（在</a:t>
            </a:r>
            <a:r>
              <a:rPr lang="en-US" altLang="zh-CN"/>
              <a:t>IPA</a:t>
            </a:r>
            <a:r>
              <a:rPr lang="zh-CN" altLang="en-US"/>
              <a:t>＜国际语音学会音标</a:t>
            </a:r>
            <a:r>
              <a:rPr lang="en-US" altLang="zh-CN"/>
              <a:t>/</a:t>
            </a:r>
            <a:r>
              <a:rPr lang="zh-CN" altLang="en-US"/>
              <a:t>国际音标＞）为</a:t>
            </a:r>
            <a:r>
              <a:rPr lang="en-US" altLang="zh-CN"/>
              <a:t>p,t,g,tsj,tsr/tʃ,ts(</a:t>
            </a:r>
            <a:r>
              <a:rPr lang="zh-CN" altLang="en-US"/>
              <a:t>因显示问题，上标的</a:t>
            </a:r>
            <a:r>
              <a:rPr lang="en-US" altLang="zh-CN"/>
              <a:t>j</a:t>
            </a:r>
            <a:r>
              <a:rPr lang="zh-CN" altLang="en-US"/>
              <a:t>＜硬腭化＞和</a:t>
            </a:r>
            <a:r>
              <a:rPr lang="en-US" altLang="zh-CN"/>
              <a:t>r</a:t>
            </a:r>
            <a:r>
              <a:rPr lang="zh-CN" altLang="en-US"/>
              <a:t>＜卷舌化＞未上标，后同</a:t>
            </a:r>
            <a:r>
              <a:rPr lang="en-US" altLang="zh-CN"/>
              <a:t>)</a:t>
            </a:r>
            <a:endParaRPr lang="en-US" altLang="zh-CN"/>
          </a:p>
          <a:p>
            <a:r>
              <a:rPr lang="en-US" altLang="zh-CN"/>
              <a:t>p,t,k,c,ch,c</a:t>
            </a:r>
            <a:r>
              <a:rPr lang="zh-CN" altLang="en-US"/>
              <a:t>为强送气音，在除阻后开始送气时发浊音，实际为有上标</a:t>
            </a:r>
            <a:r>
              <a:rPr lang="en-US" altLang="zh-CN"/>
              <a:t>h(</a:t>
            </a:r>
            <a:r>
              <a:rPr lang="zh-CN" altLang="en-US"/>
              <a:t>表送气</a:t>
            </a:r>
            <a:r>
              <a:rPr lang="en-US" altLang="zh-CN"/>
              <a:t>)</a:t>
            </a:r>
            <a:r>
              <a:rPr lang="zh-CN" altLang="en-US"/>
              <a:t>或</a:t>
            </a:r>
            <a:r>
              <a:rPr lang="en-US" altLang="zh-CN"/>
              <a:t>`(</a:t>
            </a:r>
            <a:r>
              <a:rPr lang="zh-CN" altLang="en-US"/>
              <a:t>表力度，表示重音</a:t>
            </a:r>
            <a:r>
              <a:rPr lang="en-US" altLang="zh-CN"/>
              <a:t>/</a:t>
            </a:r>
            <a:r>
              <a:rPr lang="zh-CN" altLang="en-US"/>
              <a:t>重读，也可表为强烈发声处</a:t>
            </a:r>
            <a:r>
              <a:rPr lang="en-US" altLang="zh-CN"/>
              <a:t>)p,t,g,tsj,tsr/tʃ,ts</a:t>
            </a:r>
            <a:r>
              <a:rPr lang="zh-CN" altLang="en-US"/>
              <a:t>（此处省略</a:t>
            </a:r>
            <a:r>
              <a:rPr lang="en-US" altLang="zh-CN"/>
              <a:t>h</a:t>
            </a:r>
            <a:r>
              <a:rPr lang="zh-CN" altLang="en-US"/>
              <a:t>或</a:t>
            </a:r>
            <a:r>
              <a:rPr lang="en-US" altLang="zh-CN"/>
              <a:t>`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235700" y="1270635"/>
            <a:ext cx="5342255" cy="762635"/>
          </a:xfrm>
        </p:spPr>
        <p:txBody>
          <a:bodyPr/>
          <a:p>
            <a:r>
              <a:rPr lang="zh-CN" altLang="en-US"/>
              <a:t>日文</a:t>
            </a:r>
            <a:r>
              <a:rPr lang="en-US" altLang="zh-CN"/>
              <a:t>3</a:t>
            </a:r>
            <a:r>
              <a:rPr lang="zh-CN" altLang="en-US"/>
              <a:t>组爆破音（</a:t>
            </a:r>
            <a:r>
              <a:rPr lang="en-US" altLang="zh-CN"/>
              <a:t>b,p_d,t_g,k</a:t>
            </a:r>
            <a:r>
              <a:rPr lang="zh-CN" altLang="en-US"/>
              <a:t>），</a:t>
            </a:r>
            <a:r>
              <a:rPr lang="en-US" altLang="zh-CN"/>
              <a:t>3</a:t>
            </a:r>
            <a:r>
              <a:rPr lang="zh-CN" altLang="en-US"/>
              <a:t>组塞擦音</a:t>
            </a:r>
            <a:r>
              <a:rPr lang="en-US" altLang="zh-CN"/>
              <a:t>(j,ch_dz,ts_z,s)</a:t>
            </a:r>
            <a:r>
              <a:rPr lang="zh-CN" altLang="en-US"/>
              <a:t>都是浊辅音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2033070"/>
            <a:ext cx="5342400" cy="4395600"/>
          </a:xfrm>
        </p:spPr>
        <p:txBody>
          <a:bodyPr/>
          <a:p>
            <a:r>
              <a:rPr lang="zh-CN" altLang="en-US"/>
              <a:t>日文的清浊对立是实际的清浊对立</a:t>
            </a:r>
            <a:endParaRPr lang="zh-CN" altLang="en-US"/>
          </a:p>
          <a:p>
            <a:r>
              <a:rPr lang="en-US" altLang="zh-CN"/>
              <a:t>6</a:t>
            </a:r>
            <a:r>
              <a:rPr lang="zh-CN" altLang="en-US"/>
              <a:t>个浊爆破音或塞擦音，发的就是浊音，在除阻之前就是浊音，观察波形图可以发现，辅音发音前一般有一小块多余的类似鼻音的浊音频，在音标中标为</a:t>
            </a:r>
            <a:r>
              <a:rPr lang="en-US" altLang="zh-CN"/>
              <a:t>b,d,g,zj,dz,z</a:t>
            </a:r>
            <a:endParaRPr lang="en-US" altLang="zh-CN"/>
          </a:p>
          <a:p>
            <a:r>
              <a:rPr lang="en-US" altLang="zh-CN"/>
              <a:t>6</a:t>
            </a:r>
            <a:r>
              <a:rPr lang="zh-CN" altLang="en-US"/>
              <a:t>个清爆破音或塞擦音，发的是弱送气音，轻微送气，在除阻之后发浊音，发声情况处于中文的（清音和浊音</a:t>
            </a:r>
            <a:r>
              <a:rPr lang="en-US" altLang="zh-CN"/>
              <a:t>/</a:t>
            </a:r>
            <a:r>
              <a:rPr lang="zh-CN" altLang="en-US"/>
              <a:t>送气音与不送气音）之间，但更类似于不送气音</a:t>
            </a:r>
            <a:endParaRPr lang="zh-CN" altLang="en-US"/>
          </a:p>
          <a:p>
            <a:r>
              <a:rPr lang="zh-CN" altLang="en-US"/>
              <a:t>日语的</a:t>
            </a:r>
            <a:r>
              <a:rPr lang="en-US" altLang="zh-CN"/>
              <a:t>dz</a:t>
            </a:r>
            <a:r>
              <a:rPr lang="zh-CN" altLang="en-US"/>
              <a:t>和</a:t>
            </a:r>
            <a:r>
              <a:rPr lang="en-US" altLang="zh-CN"/>
              <a:t>z</a:t>
            </a:r>
            <a:r>
              <a:rPr lang="zh-CN" altLang="en-US"/>
              <a:t>有合并趋向，实际发音时可不考虑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709365"/>
            <a:ext cx="10969200" cy="705600"/>
          </a:xfrm>
        </p:spPr>
        <p:txBody>
          <a:bodyPr>
            <a:normAutofit fontScale="90000"/>
          </a:bodyPr>
          <a:p>
            <a:r>
              <a:rPr lang="zh-CN" altLang="en-US"/>
              <a:t>日文特殊辅音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5002530"/>
          </a:xfrm>
        </p:spPr>
        <p:txBody>
          <a:bodyPr/>
          <a:p>
            <a:r>
              <a:rPr lang="en-US" altLang="zh-CN" sz="2800"/>
              <a:t>r</a:t>
            </a:r>
            <a:endParaRPr lang="en-US" altLang="zh-CN" sz="2800"/>
          </a:p>
          <a:p>
            <a:r>
              <a:rPr lang="zh-CN" altLang="en-US"/>
              <a:t>日文没有卷舌音，</a:t>
            </a:r>
            <a:r>
              <a:rPr lang="en-US" altLang="zh-CN"/>
              <a:t>r</a:t>
            </a:r>
            <a:r>
              <a:rPr lang="zh-CN" altLang="en-US"/>
              <a:t>是闪音</a:t>
            </a:r>
            <a:endParaRPr lang="zh-CN" altLang="en-US"/>
          </a:p>
          <a:p>
            <a:r>
              <a:rPr lang="zh-CN" altLang="en-US"/>
              <a:t>发音时在牙龈后部位置（龈后）轻轻点（弹）一下</a:t>
            </a:r>
            <a:endParaRPr lang="zh-CN" altLang="en-US"/>
          </a:p>
          <a:p>
            <a:r>
              <a:rPr lang="en-US" altLang="zh-CN" sz="2400"/>
              <a:t>sh</a:t>
            </a:r>
            <a:endParaRPr lang="en-US" altLang="zh-CN" sz="2400"/>
          </a:p>
          <a:p>
            <a:r>
              <a:rPr lang="zh-CN" altLang="en-US"/>
              <a:t>发音见于し和し拗音しゃ</a:t>
            </a:r>
            <a:r>
              <a:rPr lang="en-US" altLang="zh-CN"/>
              <a:t>,</a:t>
            </a:r>
            <a:r>
              <a:rPr lang="zh-CN" altLang="en-US"/>
              <a:t>しゅ</a:t>
            </a:r>
            <a:r>
              <a:rPr lang="en-US" altLang="zh-CN"/>
              <a:t>,</a:t>
            </a:r>
            <a:r>
              <a:rPr lang="zh-CN" altLang="en-US"/>
              <a:t>しぇ</a:t>
            </a:r>
            <a:r>
              <a:rPr lang="en-US" altLang="zh-CN"/>
              <a:t>,</a:t>
            </a:r>
            <a:r>
              <a:rPr lang="zh-CN" altLang="en-US"/>
              <a:t>しょ</a:t>
            </a:r>
            <a:endParaRPr lang="en-US" altLang="zh-CN"/>
          </a:p>
          <a:p>
            <a:r>
              <a:rPr lang="zh-CN" altLang="en-US"/>
              <a:t>发音更像英语里</a:t>
            </a:r>
            <a:r>
              <a:rPr lang="en-US" altLang="zh-CN"/>
              <a:t>sheep</a:t>
            </a:r>
            <a:r>
              <a:rPr lang="zh-CN" altLang="en-US"/>
              <a:t>的</a:t>
            </a:r>
            <a:r>
              <a:rPr lang="en-US" altLang="zh-CN"/>
              <a:t>sh</a:t>
            </a:r>
            <a:r>
              <a:rPr lang="zh-CN" altLang="en-US"/>
              <a:t>，龈后音同时带有硬腭化色彩（色彩指的是听感），严式标音为</a:t>
            </a:r>
            <a:r>
              <a:rPr lang="en-US" altLang="zh-CN"/>
              <a:t>ʃ</a:t>
            </a:r>
            <a:endParaRPr lang="en-US" altLang="zh-CN"/>
          </a:p>
          <a:p>
            <a:r>
              <a:rPr lang="en-US" altLang="zh-CN" sz="2400"/>
              <a:t>h</a:t>
            </a:r>
            <a:endParaRPr lang="en-US" altLang="zh-CN" sz="2800"/>
          </a:p>
          <a:p>
            <a:r>
              <a:rPr lang="zh-CN" altLang="en-US"/>
              <a:t>在</a:t>
            </a:r>
            <a:r>
              <a:rPr lang="en-US" altLang="zh-CN"/>
              <a:t>hi,hy-</a:t>
            </a:r>
            <a:r>
              <a:rPr lang="zh-CN" altLang="en-US"/>
              <a:t>中为</a:t>
            </a:r>
            <a:r>
              <a:rPr lang="en-US" altLang="zh-CN"/>
              <a:t>C,</a:t>
            </a:r>
            <a:r>
              <a:rPr lang="zh-CN" altLang="en-US"/>
              <a:t>在</a:t>
            </a:r>
            <a:r>
              <a:rPr lang="en-US" altLang="zh-CN"/>
              <a:t>hu/fu</a:t>
            </a:r>
            <a:r>
              <a:rPr lang="zh-CN" altLang="en-US"/>
              <a:t>中为</a:t>
            </a:r>
            <a:r>
              <a:rPr lang="en-US" altLang="zh-CN"/>
              <a:t>φ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0746740" y="4291330"/>
            <a:ext cx="309245" cy="360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/>
              <a:t>j</a:t>
            </a:r>
            <a:endParaRPr lang="en-US" altLang="zh-CN" sz="1200"/>
          </a:p>
        </p:txBody>
      </p:sp>
      <p:sp>
        <p:nvSpPr>
          <p:cNvPr id="6" name="文本框 5"/>
          <p:cNvSpPr txBox="1"/>
          <p:nvPr/>
        </p:nvSpPr>
        <p:spPr>
          <a:xfrm rot="10800000" flipV="1">
            <a:off x="2296795" y="5523865"/>
            <a:ext cx="218440" cy="274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latin typeface="HarmonyOS Sans" panose="00000500000000000000" charset="0"/>
                <a:ea typeface="+mj-ea"/>
                <a:cs typeface="HarmonyOS Sans" panose="00000500000000000000" charset="0"/>
              </a:rPr>
              <a:t>s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HarmonyOS Sans" panose="00000500000000000000" charset="0"/>
              <a:ea typeface="+mj-ea"/>
              <a:cs typeface="HarmonyOS Sans" panose="00000500000000000000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41738" y="608330"/>
            <a:ext cx="4708525" cy="705485"/>
          </a:xfrm>
        </p:spPr>
        <p:txBody>
          <a:bodyPr>
            <a:normAutofit fontScale="90000"/>
          </a:bodyPr>
          <a:p>
            <a:r>
              <a:rPr lang="zh-CN" altLang="en-US"/>
              <a:t>中文与日文元音的区别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 fontScale="90000" lnSpcReduction="10000"/>
          </a:bodyPr>
          <a:p>
            <a:r>
              <a:rPr lang="zh-CN" altLang="en-US"/>
              <a:t>中文元音</a:t>
            </a:r>
            <a:r>
              <a:rPr lang="en-US" altLang="zh-CN"/>
              <a:t>a,o,e,i,u</a:t>
            </a:r>
            <a:r>
              <a:rPr lang="zh-CN" altLang="en-US"/>
              <a:t>位置多变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553155" y="1854000"/>
            <a:ext cx="5342400" cy="4395600"/>
          </a:xfrm>
        </p:spPr>
        <p:txBody>
          <a:bodyPr/>
          <a:p>
            <a:pPr>
              <a:lnSpc>
                <a:spcPct val="110000"/>
              </a:lnSpc>
            </a:pPr>
            <a:r>
              <a:rPr lang="en-US" altLang="zh-CN" sz="1400"/>
              <a:t>a</a:t>
            </a:r>
            <a:r>
              <a:rPr lang="zh-CN" altLang="en-US" sz="1400"/>
              <a:t>有时为前半低</a:t>
            </a:r>
            <a:r>
              <a:rPr lang="en-US" altLang="zh-CN" sz="1400"/>
              <a:t>/</a:t>
            </a:r>
            <a:r>
              <a:rPr lang="zh-CN" altLang="en-US" sz="1400"/>
              <a:t>前偏低元音（</a:t>
            </a:r>
            <a:r>
              <a:rPr lang="en-US" altLang="zh-CN" sz="1400"/>
              <a:t>ian</a:t>
            </a:r>
            <a:r>
              <a:rPr lang="zh-CN" altLang="en-US" sz="1400"/>
              <a:t>），有时为前低元音</a:t>
            </a:r>
            <a:r>
              <a:rPr lang="en-US" altLang="zh-CN" sz="1400"/>
              <a:t>(ai)</a:t>
            </a:r>
            <a:r>
              <a:rPr lang="zh-CN" altLang="en-US" sz="1400"/>
              <a:t>，有时为中低元音</a:t>
            </a:r>
            <a:r>
              <a:rPr lang="en-US" altLang="zh-CN" sz="1400"/>
              <a:t>(a,an)</a:t>
            </a:r>
            <a:r>
              <a:rPr lang="zh-CN" altLang="en-US" sz="1400"/>
              <a:t>，有时为后低元音或后偏低元音</a:t>
            </a:r>
            <a:r>
              <a:rPr lang="en-US" altLang="zh-CN" sz="1400"/>
              <a:t>(ao,ang)</a:t>
            </a:r>
            <a:endParaRPr lang="en-US" altLang="zh-CN" sz="1400"/>
          </a:p>
          <a:p>
            <a:pPr>
              <a:lnSpc>
                <a:spcPct val="110000"/>
              </a:lnSpc>
            </a:pPr>
            <a:r>
              <a:rPr lang="en-US" altLang="zh-CN" sz="1400"/>
              <a:t>o</a:t>
            </a:r>
            <a:r>
              <a:rPr lang="zh-CN" altLang="en-US" sz="1400"/>
              <a:t>有时为后偏高元音（</a:t>
            </a:r>
            <a:r>
              <a:rPr lang="en-US" altLang="zh-CN" sz="1400"/>
              <a:t>ong,ao</a:t>
            </a:r>
            <a:r>
              <a:rPr lang="zh-CN" altLang="en-US" sz="1400"/>
              <a:t>），有时为后半高元音</a:t>
            </a:r>
            <a:r>
              <a:rPr lang="en-US" altLang="zh-CN" sz="1400"/>
              <a:t>(o,ao)</a:t>
            </a:r>
            <a:r>
              <a:rPr lang="zh-CN" altLang="en-US" sz="1400"/>
              <a:t>，有时为后半低元音</a:t>
            </a:r>
            <a:r>
              <a:rPr lang="en-US" altLang="zh-CN" sz="1400"/>
              <a:t>(ong)</a:t>
            </a:r>
            <a:r>
              <a:rPr lang="zh-CN" altLang="en-US" sz="1400"/>
              <a:t>，有时为后低元音</a:t>
            </a:r>
            <a:r>
              <a:rPr lang="en-US" altLang="zh-CN" sz="1400"/>
              <a:t>(or,o</a:t>
            </a:r>
            <a:r>
              <a:rPr lang="zh-CN" altLang="en-US" sz="1400"/>
              <a:t>的儿化音</a:t>
            </a:r>
            <a:r>
              <a:rPr lang="en-US" altLang="zh-CN" sz="1400"/>
              <a:t>)</a:t>
            </a:r>
            <a:endParaRPr lang="en-US" altLang="zh-CN" sz="1400"/>
          </a:p>
          <a:p>
            <a:pPr>
              <a:lnSpc>
                <a:spcPct val="110000"/>
              </a:lnSpc>
            </a:pPr>
            <a:r>
              <a:rPr lang="en-US" altLang="zh-CN" sz="1400"/>
              <a:t>e</a:t>
            </a:r>
            <a:r>
              <a:rPr lang="zh-CN" altLang="en-US" sz="1400"/>
              <a:t>有时为半高</a:t>
            </a:r>
            <a:r>
              <a:rPr lang="en-US" altLang="zh-CN" sz="1400"/>
              <a:t>-</a:t>
            </a:r>
            <a:r>
              <a:rPr lang="zh-CN" altLang="en-US" sz="1400"/>
              <a:t>半低前元音</a:t>
            </a:r>
            <a:r>
              <a:rPr lang="en-US" altLang="zh-CN" sz="1400"/>
              <a:t>(ie)</a:t>
            </a:r>
            <a:r>
              <a:rPr lang="zh-CN" altLang="en-US" sz="1400"/>
              <a:t>，有时为中央元音</a:t>
            </a:r>
            <a:r>
              <a:rPr lang="en-US" altLang="zh-CN" sz="1400"/>
              <a:t>(</a:t>
            </a:r>
            <a:r>
              <a:rPr lang="zh-CN" altLang="en-US" sz="1400"/>
              <a:t>轻声</a:t>
            </a:r>
            <a:r>
              <a:rPr lang="en-US" altLang="zh-CN" sz="1400"/>
              <a:t>e)</a:t>
            </a:r>
            <a:r>
              <a:rPr lang="zh-CN" altLang="en-US" sz="1400"/>
              <a:t>，有时为</a:t>
            </a:r>
            <a:r>
              <a:rPr lang="en-US" altLang="zh-CN" sz="1400"/>
              <a:t>₁</a:t>
            </a:r>
            <a:r>
              <a:rPr lang="zh-CN" altLang="en-US" sz="1400"/>
              <a:t>后半高</a:t>
            </a:r>
            <a:r>
              <a:rPr lang="en-US" altLang="zh-CN" sz="1400"/>
              <a:t>→</a:t>
            </a:r>
            <a:r>
              <a:rPr lang="zh-CN" altLang="en-US" sz="1400"/>
              <a:t>后半低元音</a:t>
            </a:r>
            <a:r>
              <a:rPr lang="en-US" altLang="zh-CN" sz="1400"/>
              <a:t>/₂</a:t>
            </a:r>
            <a:r>
              <a:rPr lang="zh-CN" altLang="en-US" sz="1400"/>
              <a:t>后半高</a:t>
            </a:r>
            <a:r>
              <a:rPr lang="en-US" altLang="zh-CN" sz="1400"/>
              <a:t>(e)</a:t>
            </a:r>
            <a:r>
              <a:rPr lang="zh-CN" altLang="en-US" sz="1400"/>
              <a:t>，有时为卷舌化中央元音</a:t>
            </a:r>
            <a:r>
              <a:rPr lang="en-US" altLang="zh-CN" sz="1400"/>
              <a:t>(er)</a:t>
            </a:r>
            <a:endParaRPr lang="en-US" altLang="zh-CN" sz="1400"/>
          </a:p>
          <a:p>
            <a:pPr>
              <a:lnSpc>
                <a:spcPct val="110000"/>
              </a:lnSpc>
            </a:pPr>
            <a:r>
              <a:rPr lang="en-US" altLang="zh-CN" sz="1400"/>
              <a:t>i,</a:t>
            </a:r>
            <a:r>
              <a:rPr lang="zh-CN" altLang="en-US" sz="1400"/>
              <a:t>有时为前高元音</a:t>
            </a:r>
            <a:r>
              <a:rPr lang="en-US" altLang="zh-CN" sz="1400"/>
              <a:t>(i,yi),</a:t>
            </a:r>
            <a:r>
              <a:rPr lang="zh-CN" altLang="en-US" sz="1400"/>
              <a:t>有时为偏前偏高元音</a:t>
            </a:r>
            <a:r>
              <a:rPr lang="en-US" altLang="zh-CN" sz="1400"/>
              <a:t>(ai,ei),</a:t>
            </a:r>
            <a:r>
              <a:rPr lang="zh-CN" altLang="en-US" sz="1400"/>
              <a:t>有时为</a:t>
            </a:r>
            <a:r>
              <a:rPr lang="en-US" altLang="zh-CN" sz="1400"/>
              <a:t>₁</a:t>
            </a:r>
            <a:r>
              <a:rPr lang="zh-CN" altLang="en-US" sz="1400"/>
              <a:t>央超高元音</a:t>
            </a:r>
            <a:r>
              <a:rPr lang="en-US" altLang="zh-CN" sz="1400"/>
              <a:t>(si),</a:t>
            </a:r>
            <a:r>
              <a:rPr lang="zh-CN" altLang="en-US" sz="1400"/>
              <a:t>有时在</a:t>
            </a:r>
            <a:r>
              <a:rPr lang="en-US" altLang="zh-CN" sz="1400"/>
              <a:t>1</a:t>
            </a:r>
            <a:r>
              <a:rPr lang="zh-CN" altLang="en-US" sz="1400"/>
              <a:t>的基础上龈后</a:t>
            </a:r>
            <a:r>
              <a:rPr lang="en-US" altLang="zh-CN" sz="1400"/>
              <a:t>/</a:t>
            </a:r>
            <a:r>
              <a:rPr lang="zh-CN" altLang="en-US" sz="1400"/>
              <a:t>卷舌化</a:t>
            </a:r>
            <a:r>
              <a:rPr lang="en-US" altLang="zh-CN" sz="1400"/>
              <a:t>(shi)</a:t>
            </a:r>
            <a:endParaRPr lang="en-US" altLang="zh-CN" sz="1400"/>
          </a:p>
          <a:p>
            <a:pPr>
              <a:lnSpc>
                <a:spcPct val="110000"/>
              </a:lnSpc>
            </a:pPr>
            <a:r>
              <a:rPr lang="en-US" altLang="zh-CN" sz="1400"/>
              <a:t>u</a:t>
            </a:r>
            <a:r>
              <a:rPr lang="zh-CN" altLang="en-US" sz="1400"/>
              <a:t>大致为后高元音</a:t>
            </a:r>
            <a:r>
              <a:rPr lang="en-US" altLang="zh-CN" sz="1400"/>
              <a:t>(u,wu)</a:t>
            </a:r>
            <a:r>
              <a:rPr lang="zh-CN" altLang="en-US" sz="1400"/>
              <a:t>，或有中央化</a:t>
            </a:r>
            <a:r>
              <a:rPr lang="en-US" altLang="zh-CN" sz="1400"/>
              <a:t>(un)</a:t>
            </a:r>
            <a:endParaRPr lang="en-US" altLang="zh-CN" sz="1400"/>
          </a:p>
          <a:p>
            <a:pPr>
              <a:lnSpc>
                <a:spcPct val="110000"/>
              </a:lnSpc>
            </a:pPr>
            <a:r>
              <a:rPr lang="zh-CN" altLang="en-US" sz="1400"/>
              <a:t>还有元音</a:t>
            </a:r>
            <a:r>
              <a:rPr lang="en-US" altLang="zh-CN" sz="1400"/>
              <a:t>ü/v,</a:t>
            </a:r>
            <a:r>
              <a:rPr lang="zh-CN" altLang="en-US" sz="1400"/>
              <a:t>为前高元音</a:t>
            </a:r>
            <a:r>
              <a:rPr lang="en-US" altLang="zh-CN" sz="1400"/>
              <a:t>(yu,ü),</a:t>
            </a:r>
            <a:r>
              <a:rPr lang="zh-CN" altLang="en-US" sz="1400"/>
              <a:t>或轻微中央化</a:t>
            </a:r>
            <a:r>
              <a:rPr lang="en-US" altLang="zh-CN" sz="1400"/>
              <a:t>(van,üan)</a:t>
            </a:r>
            <a:endParaRPr lang="en-US" altLang="zh-CN" sz="1400"/>
          </a:p>
          <a:p>
            <a:pPr>
              <a:lnSpc>
                <a:spcPct val="110000"/>
              </a:lnSpc>
            </a:pPr>
            <a:r>
              <a:rPr lang="zh-CN" altLang="en-US" sz="1400"/>
              <a:t>此处展唇标为①，圆唇标为②</a:t>
            </a:r>
            <a:r>
              <a:rPr lang="en-US" altLang="zh-CN" sz="1400"/>
              <a:t>(</a:t>
            </a:r>
            <a:r>
              <a:rPr lang="zh-CN" altLang="en-US" sz="1400"/>
              <a:t>后同</a:t>
            </a:r>
            <a:r>
              <a:rPr lang="en-US" altLang="zh-CN" sz="1400"/>
              <a:t>)</a:t>
            </a:r>
            <a:r>
              <a:rPr lang="zh-CN" altLang="en-US" sz="1400"/>
              <a:t>（</a:t>
            </a:r>
            <a:r>
              <a:rPr lang="en-US" altLang="zh-CN" sz="1400"/>
              <a:t>a</a:t>
            </a:r>
            <a:r>
              <a:rPr lang="zh-CN" altLang="en-US" sz="1400"/>
              <a:t>①</a:t>
            </a:r>
            <a:r>
              <a:rPr lang="en-US" altLang="zh-CN" sz="1400"/>
              <a:t>,o</a:t>
            </a:r>
            <a:r>
              <a:rPr lang="zh-CN" altLang="en-US" sz="1400"/>
              <a:t>②</a:t>
            </a:r>
            <a:r>
              <a:rPr lang="en-US" altLang="zh-CN" sz="1400"/>
              <a:t>,e</a:t>
            </a:r>
            <a:r>
              <a:rPr lang="zh-CN" altLang="en-US" sz="1400"/>
              <a:t>①</a:t>
            </a:r>
            <a:r>
              <a:rPr lang="en-US" altLang="zh-CN" sz="1400"/>
              <a:t>/</a:t>
            </a:r>
            <a:r>
              <a:rPr lang="zh-CN" altLang="en-US" sz="1400"/>
              <a:t>②</a:t>
            </a:r>
            <a:r>
              <a:rPr lang="en-US" altLang="zh-CN" sz="1400"/>
              <a:t>,i</a:t>
            </a:r>
            <a:r>
              <a:rPr lang="zh-CN" altLang="en-US" sz="1400"/>
              <a:t>①</a:t>
            </a:r>
            <a:r>
              <a:rPr lang="en-US" altLang="zh-CN" sz="1400"/>
              <a:t>,u</a:t>
            </a:r>
            <a:r>
              <a:rPr lang="zh-CN" altLang="en-US" sz="1400"/>
              <a:t>②</a:t>
            </a:r>
            <a:r>
              <a:rPr lang="en-US" altLang="zh-CN" sz="1400"/>
              <a:t>,v</a:t>
            </a:r>
            <a:r>
              <a:rPr lang="zh-CN" altLang="en-US" sz="1400"/>
              <a:t>②）</a:t>
            </a:r>
            <a:endParaRPr lang="zh-CN" altLang="en-US" sz="14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/>
        <p:txBody>
          <a:bodyPr>
            <a:normAutofit fontScale="90000" lnSpcReduction="10000"/>
          </a:bodyPr>
          <a:p>
            <a:r>
              <a:rPr lang="zh-CN" altLang="en-US"/>
              <a:t>日文元音</a:t>
            </a:r>
            <a:r>
              <a:rPr lang="en-US" altLang="zh-CN"/>
              <a:t>a,i,u,e,o</a:t>
            </a:r>
            <a:r>
              <a:rPr lang="zh-CN" altLang="en-US"/>
              <a:t>，</a:t>
            </a:r>
            <a:r>
              <a:rPr lang="en-US" altLang="zh-CN"/>
              <a:t>u</a:t>
            </a:r>
            <a:r>
              <a:rPr lang="zh-CN" altLang="en-US"/>
              <a:t>位置有较大变化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/>
        <p:txBody>
          <a:bodyPr/>
          <a:p>
            <a:r>
              <a:rPr lang="en-US" altLang="zh-CN" sz="1400"/>
              <a:t>a</a:t>
            </a:r>
            <a:r>
              <a:rPr lang="zh-CN" altLang="en-US" sz="1400"/>
              <a:t>为低元音</a:t>
            </a:r>
            <a:endParaRPr lang="zh-CN" altLang="en-US" sz="1400"/>
          </a:p>
          <a:p>
            <a:r>
              <a:rPr lang="en-US" altLang="zh-CN" sz="1400"/>
              <a:t>i</a:t>
            </a:r>
            <a:r>
              <a:rPr lang="zh-CN" altLang="en-US" sz="1400"/>
              <a:t>为前高元音</a:t>
            </a:r>
            <a:endParaRPr lang="zh-CN" altLang="en-US" sz="1400"/>
          </a:p>
          <a:p>
            <a:r>
              <a:rPr lang="en-US" altLang="zh-CN" sz="1400"/>
              <a:t>u</a:t>
            </a:r>
            <a:r>
              <a:rPr lang="zh-CN" altLang="en-US" sz="1400"/>
              <a:t>高偏后元音，或高央元音</a:t>
            </a:r>
            <a:r>
              <a:rPr lang="en-US" altLang="zh-CN" sz="1400"/>
              <a:t>(su)</a:t>
            </a:r>
            <a:endParaRPr lang="zh-CN" altLang="en-US" sz="1400"/>
          </a:p>
          <a:p>
            <a:r>
              <a:rPr lang="en-US" altLang="zh-CN" sz="1400"/>
              <a:t>e</a:t>
            </a:r>
            <a:r>
              <a:rPr lang="zh-CN" altLang="en-US" sz="1400"/>
              <a:t>为前中元音</a:t>
            </a:r>
            <a:endParaRPr lang="zh-CN" altLang="en-US" sz="1400"/>
          </a:p>
          <a:p>
            <a:r>
              <a:rPr lang="en-US" altLang="zh-CN" sz="1400"/>
              <a:t>o</a:t>
            </a:r>
            <a:r>
              <a:rPr lang="zh-CN" altLang="en-US" sz="1400"/>
              <a:t>为后中元音</a:t>
            </a:r>
            <a:endParaRPr lang="zh-CN" altLang="en-US" sz="1400"/>
          </a:p>
          <a:p>
            <a:r>
              <a:rPr lang="en-US" altLang="zh-CN" sz="1400"/>
              <a:t>n(</a:t>
            </a:r>
            <a:r>
              <a:rPr lang="zh-CN" altLang="en-US" sz="1400"/>
              <a:t>ん</a:t>
            </a:r>
            <a:r>
              <a:rPr lang="en-US" altLang="zh-CN" sz="1400"/>
              <a:t>)</a:t>
            </a:r>
            <a:r>
              <a:rPr lang="zh-CN" altLang="en-US" sz="1400"/>
              <a:t>可作为元音：后面为元音或近音时，为该元音或近音的鼻音化元音</a:t>
            </a:r>
            <a:r>
              <a:rPr lang="en-US" altLang="zh-CN" sz="1400"/>
              <a:t>(</a:t>
            </a:r>
            <a:r>
              <a:rPr lang="zh-CN" altLang="en-US" sz="1400"/>
              <a:t>あんあ</a:t>
            </a:r>
            <a:r>
              <a:rPr lang="en-US" altLang="zh-CN" sz="1400"/>
              <a:t>/aaⁿa,</a:t>
            </a:r>
            <a:r>
              <a:rPr lang="zh-CN" altLang="en-US" sz="1400"/>
              <a:t>あんい</a:t>
            </a:r>
            <a:r>
              <a:rPr lang="en-US" altLang="zh-CN" sz="1400"/>
              <a:t>/aiⁿi,</a:t>
            </a:r>
            <a:r>
              <a:rPr lang="zh-CN" altLang="en-US" sz="1400"/>
              <a:t>あんや</a:t>
            </a:r>
            <a:r>
              <a:rPr lang="en-US" altLang="zh-CN" sz="1400"/>
              <a:t>/aiⁿya/aⁿyⁿa,</a:t>
            </a:r>
            <a:r>
              <a:rPr lang="zh-CN" altLang="en-US" sz="1400"/>
              <a:t>あんわ</a:t>
            </a:r>
            <a:r>
              <a:rPr lang="en-US" altLang="zh-CN" sz="1400"/>
              <a:t>/auⁿwa/aⁿwⁿa)</a:t>
            </a:r>
            <a:r>
              <a:rPr lang="zh-CN" altLang="en-US" sz="1400"/>
              <a:t>；后面为辅音时，鼻音阻塞处为该辅音的发音位置</a:t>
            </a:r>
            <a:r>
              <a:rPr lang="en-US" altLang="zh-CN" sz="1400"/>
              <a:t>(</a:t>
            </a:r>
            <a:r>
              <a:rPr lang="zh-CN" altLang="en-US" sz="1400"/>
              <a:t>あんか</a:t>
            </a:r>
            <a:r>
              <a:rPr lang="en-US" altLang="zh-CN" sz="1400"/>
              <a:t>/an⁴ka,</a:t>
            </a:r>
            <a:r>
              <a:rPr lang="zh-CN" altLang="en-US" sz="1400"/>
              <a:t>あんしゃ</a:t>
            </a:r>
            <a:r>
              <a:rPr lang="en-US" altLang="zh-CN" sz="1400"/>
              <a:t>/ansja,</a:t>
            </a:r>
            <a:r>
              <a:rPr lang="zh-CN" altLang="en-US" sz="1400"/>
              <a:t>あんば</a:t>
            </a:r>
            <a:r>
              <a:rPr lang="en-US" altLang="zh-CN" sz="1400"/>
              <a:t>/amba,</a:t>
            </a:r>
            <a:r>
              <a:rPr lang="zh-CN" altLang="en-US" sz="1400"/>
              <a:t>あんは</a:t>
            </a:r>
            <a:r>
              <a:rPr lang="en-US" altLang="zh-CN" sz="1400"/>
              <a:t>/aNha,</a:t>
            </a:r>
            <a:r>
              <a:rPr lang="zh-CN" altLang="en-US" sz="1400"/>
              <a:t>あんら</a:t>
            </a:r>
            <a:r>
              <a:rPr lang="en-US" altLang="zh-CN" sz="1400"/>
              <a:t>/an-dra)</a:t>
            </a:r>
            <a:endParaRPr lang="en-US" altLang="zh-CN" sz="1400"/>
          </a:p>
          <a:p>
            <a:r>
              <a:rPr lang="en-US" altLang="zh-CN" sz="1400"/>
              <a:t>(ⁿ</a:t>
            </a:r>
            <a:r>
              <a:rPr lang="zh-CN" altLang="en-US" sz="1400"/>
              <a:t>为鼻音化，</a:t>
            </a:r>
            <a:r>
              <a:rPr lang="en-US" altLang="zh-CN" sz="1400"/>
              <a:t>n⁴</a:t>
            </a:r>
            <a:r>
              <a:rPr lang="zh-CN" altLang="en-US" sz="1400"/>
              <a:t>为</a:t>
            </a:r>
            <a:r>
              <a:rPr lang="en-US" altLang="zh-CN" sz="1400"/>
              <a:t>ng</a:t>
            </a:r>
            <a:r>
              <a:rPr lang="zh-CN" altLang="en-US" sz="1400"/>
              <a:t>，</a:t>
            </a:r>
            <a:r>
              <a:rPr lang="en-US" altLang="zh-CN" sz="1400"/>
              <a:t>j</a:t>
            </a:r>
            <a:r>
              <a:rPr lang="zh-CN" altLang="en-US" sz="1400"/>
              <a:t>为硬腭化</a:t>
            </a:r>
            <a:r>
              <a:rPr lang="en-US" altLang="zh-CN" sz="1400"/>
              <a:t>)</a:t>
            </a:r>
            <a:endParaRPr lang="en-US" altLang="zh-CN" sz="1400"/>
          </a:p>
          <a:p>
            <a:r>
              <a:rPr lang="zh-CN" altLang="en-US" sz="1400"/>
              <a:t>元音的位置会有轻微改变，但大致是这个位置</a:t>
            </a:r>
            <a:endParaRPr lang="zh-CN" altLang="en-US" sz="1400"/>
          </a:p>
        </p:txBody>
      </p:sp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1321</Words>
  <Application>WPS 演示</Application>
  <PresentationFormat>宽屏</PresentationFormat>
  <Paragraphs>60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2" baseType="lpstr">
      <vt:lpstr>Arial</vt:lpstr>
      <vt:lpstr>宋体</vt:lpstr>
      <vt:lpstr>Wingdings</vt:lpstr>
      <vt:lpstr>FT Thymes</vt:lpstr>
      <vt:lpstr>Wingdings</vt:lpstr>
      <vt:lpstr>FTToken</vt:lpstr>
      <vt:lpstr>微软雅黑</vt:lpstr>
      <vt:lpstr>Noto Sans CJK SC</vt:lpstr>
      <vt:lpstr>微软雅黑</vt:lpstr>
      <vt:lpstr>宋体</vt:lpstr>
      <vt:lpstr>Arial Unicode MS</vt:lpstr>
      <vt:lpstr>Calibri</vt:lpstr>
      <vt:lpstr>书宋-简</vt:lpstr>
      <vt:lpstr>Noto Sans</vt:lpstr>
      <vt:lpstr>鴻蒙黑體</vt:lpstr>
      <vt:lpstr>HarmonyOS Sans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yuleeyeen</cp:lastModifiedBy>
  <cp:revision>162</cp:revision>
  <dcterms:created xsi:type="dcterms:W3CDTF">2026-02-28T04:43:43Z</dcterms:created>
  <dcterms:modified xsi:type="dcterms:W3CDTF">2026-02-28T04:43:43Z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2052-12.1.3.25234</vt:lpwstr>
  </property>
  <property fmtid="{D5CDD505-2E9C-101B-9397-08002B2CF9AE}" pid="3" name="ICV">
    <vt:lpwstr>E2C1AD6EA1E935BAB24BA26994FB0470_41</vt:lpwstr>
  </property>
</Properties>
</file>